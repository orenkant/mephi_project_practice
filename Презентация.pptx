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СберАвтоподписка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Предсказание целевого действия пользователя на сайте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CCDDEE"/>
                </a:solidFill>
              </a:rPr>
              <a:t>Метрика: ROC-AUC · Ориентир: ≥ 0.65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A6A6A"/>
                </a:solidFill>
              </a:rPr>
              <a:t>MIFIML · Практикум · Учебная задача (PJ)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A6A6A"/>
                </a:solidFill>
              </a:rPr>
              <a:t>Бинарная классификация на данных Google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Задача и 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Что нужно сделать и зачем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</a:rPr>
              <a:t>Цель бизнеса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Оценить эффективность каналов привлечения трафика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Адаптировать рекламные кампании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Улучшать UX сайта на основе анализа поведения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</a:rPr>
              <a:t>Целевое действие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event_action ∈ {claim, callback, call_number, open_dialog, submit_success, start_chat}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Найдено 14 конкретных значений по регулярному выражению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Бинарный таргет на сессию: была ли хотя бы одна целевая активность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</a:rPr>
              <a:t>•  Метрика — ROC-AUC. Порог задания — 0.65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Данные и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Что в датасете и что мы там увидели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Объёмы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sessions: 1 860 042 × 18 (один визит = одна строка)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hits: 15 726 470 × 11 (одно событие = одна строка)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Дублей по session_id — 0; в hits удалено 225 862 дубля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CR (полный датасет): 4.19 %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Дисбаланс классов: 1 :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Что показал 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CR сильно зависит от utm_medium и utm_source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CR по часу/дню недели и top-20 городов — есть структура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visit_number и screen_h хорошо разделяют классы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Мультиколлинеарности между признаками нет</a:t>
            </a:r>
          </a:p>
        </p:txBody>
      </p:sp>
      <p:pic>
        <p:nvPicPr>
          <p:cNvPr id="10" name="Picture 9" descr="img_class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297680" cy="1689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Признаки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34 признака: 28 базовых + client_prev_cr + 5 target-encoded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Базовые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 (4): source, medium, campaign, adcontent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Device (4): category, os, brand, browser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Geo (2): country, 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Время: hour_sin/cos, dow_sin/cos, is_weekend, visit_month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Экран: screen_w, screen_h, screen_area (capped 4000 px)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visit_number_capped (cap=50)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Доменные и инженерные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Флаги канала: is_organic, is_paid, is_social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Кросс-категории: utm_src×device, utm_camp×city, utm_src×medium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История клиента: prev_sessions, prev_conv, prev_cr (smooth=10)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OOF target encoding (5-fold, smooth=100): 5 признаков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   te_utm_campaign, te_utm_source, te_utm_adcontent,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   te_geo_city, te_utm_medium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Защита от утечек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TE считается out-of-fold — train не видит свою долю в среднем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История клиента — кумулятивно «в прошлое»: cumcount и cumsum − self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gm_train (среднее таргета) считается только по 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Модели и методология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Три уровня + честный временной сплит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Лестница моделей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DummyClassifier (most_frequent) — sanity-check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LogisticRegression(class_weight=balanced) + OneHot(min_frequency=0.001)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LightGBM с native categorical (OrdinalEncoder + categorical_feature)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Методология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Временной сплит 70 / 10 / 20 train / val / test (по visit_dt)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Early stopping LightGBM (300 итераций) по val-AUC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Подбор гиперпараметров мини-сеткой из 4 конфигов; выбор по val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scale_pos_weight ≈ 20.9 (учёт дисбаланса 1:23)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Тест замеряется один раз — после фиксации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Результаты по ROC-AUC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Ориентир задания пройден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l"/>
            <a:r>
              <a:rPr sz="1400" b="1">
                <a:solidFill>
                  <a:srgbClr val="FFFFFF"/>
                </a:solidFill>
              </a:rPr>
              <a:t>Модель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463040"/>
            <a:ext cx="146304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463040"/>
            <a:ext cx="1463040" cy="502920"/>
          </a:xfrm>
          <a:prstGeom prst="rect">
            <a:avLst/>
          </a:prstGeom>
          <a:solidFill>
            <a:srgbClr val="1F3A5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l"/>
            <a:r>
              <a:rPr sz="1400">
                <a:solidFill>
                  <a:srgbClr val="222222"/>
                </a:solidFill>
              </a:rPr>
              <a:t>Dummy (most_frequent)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6596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0.5000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96596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0.5000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0292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l"/>
            <a:r>
              <a:rPr sz="1400">
                <a:solidFill>
                  <a:srgbClr val="222222"/>
                </a:solidFill>
              </a:rPr>
              <a:t>LogisticRegression + OHE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46888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0.6436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468880"/>
            <a:ext cx="14630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0.6374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029200" cy="502920"/>
          </a:xfrm>
          <a:prstGeom prst="rect">
            <a:avLst/>
          </a:prstGeom>
          <a:solidFill>
            <a:srgbClr val="E9F5E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l"/>
            <a:r>
              <a:rPr sz="1400" b="1">
                <a:solidFill>
                  <a:srgbClr val="2E8B57"/>
                </a:solidFill>
              </a:rPr>
              <a:t>LightGBM (strong_reg)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971800"/>
            <a:ext cx="1463040" cy="502920"/>
          </a:xfrm>
          <a:prstGeom prst="rect">
            <a:avLst/>
          </a:prstGeom>
          <a:solidFill>
            <a:srgbClr val="E9F5E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 b="1">
                <a:solidFill>
                  <a:srgbClr val="2E8B57"/>
                </a:solidFill>
              </a:rPr>
              <a:t>0.6799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971800"/>
            <a:ext cx="1463040" cy="502920"/>
          </a:xfrm>
          <a:prstGeom prst="rect">
            <a:avLst/>
          </a:prstGeom>
          <a:solidFill>
            <a:srgbClr val="E9F5EC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 b="1">
                <a:solidFill>
                  <a:srgbClr val="2E8B57"/>
                </a:solidFill>
              </a:rPr>
              <a:t>0.6554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5029200" cy="502920"/>
          </a:xfrm>
          <a:prstGeom prst="rect">
            <a:avLst/>
          </a:prstGeom>
          <a:solidFill>
            <a:srgbClr val="FBF4E7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l"/>
            <a:r>
              <a:rPr sz="1400">
                <a:solidFill>
                  <a:srgbClr val="222222"/>
                </a:solidFill>
              </a:rPr>
              <a:t>Ориентир задания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474720"/>
            <a:ext cx="1463040" cy="502920"/>
          </a:xfrm>
          <a:prstGeom prst="rect">
            <a:avLst/>
          </a:prstGeom>
          <a:solidFill>
            <a:srgbClr val="FBF4E7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3474720"/>
            <a:ext cx="1463040" cy="502920"/>
          </a:xfrm>
          <a:prstGeom prst="rect">
            <a:avLst/>
          </a:prstGeom>
          <a:solidFill>
            <a:srgbClr val="FBF4E7"/>
          </a:solidFill>
          <a:ln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/>
            <a:r>
              <a:rPr sz="1400">
                <a:solidFill>
                  <a:srgbClr val="222222"/>
                </a:solidFill>
              </a:rPr>
              <a:t>0.6500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Финальная модель — LightGBM strong_reg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Победитель мини-сетки: num_leaves=31, min_child_samples=500, reg_lambda=5.0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val_auc = 0.6799,  best_iter = 24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</a:rPr>
              <a:t>•  test ROC-AUC = 0.6554 — порог 0.65 пройден (запас +0.0054)</a:t>
            </a:r>
          </a:p>
        </p:txBody>
      </p:sp>
      <p:pic>
        <p:nvPicPr>
          <p:cNvPr id="23" name="Picture 22" descr="img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3474720" cy="25950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Интерпретация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Какие признаки на самом деле работают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Топ-10 по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te_utm_campaign — сильнейший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utm_campaign (как категория)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client_prev_cr — история клиента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geo_city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utm_src_x_medium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utm_adcontent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utm_src_x_device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utm_camp_x_city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client_prev_conv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visit_month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A6A6A"/>
                </a:solidFill>
              </a:rPr>
              <a:t>Бизнес-вывод: канал и кампания решают; история клиента и город задают тонкую настройку</a:t>
            </a:r>
          </a:p>
        </p:txBody>
      </p:sp>
      <p:pic>
        <p:nvPicPr>
          <p:cNvPr id="9" name="Picture 8" descr="im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486400" cy="50926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Поставка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predict.py +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predict.py — CLI / JSON / CSV-batch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CLI: --utm_medium cpc --device_category mobile --geo_city Moscow --visit_hour 14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JSON-вход: --json file.json или --json - (через stdin)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CSV-batch: --input visits.csv --output visits_pred.csv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app.py — 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GET /health — статус, метрики, размер истории клиентов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POST /predict — одиночный визит; latency ≈ 3 мс по сети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POST /predict_batch — массив визитов; ≈ 0.0006 мс/визит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</a:rPr>
              <a:t>Производительность инференса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Загрузка model.pkl — ~6.5 с,  RAM после загрузки — ~620 МБ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</a:rPr>
              <a:t>•  Время отклика на визит — миллисекунды (порог задания — 3 секунды)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1148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r>
              <a:rPr sz="1600" i="1">
                <a:solidFill>
                  <a:srgbClr val="6A6A6A"/>
                </a:solidFill>
              </a:rPr>
              <a:t>Что сделано и где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</a:rPr>
              <a:t>Сделано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EDA, feature engineering, доменные фичи и взаимодействия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Три модели от Dummy до LightGBM, честный временной сплит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OOF target encoding и история клиента — без утечек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Интерпретация: feature importance + SHAP (summary, violin)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predict.py (CLI/JSON/CSV) + FastAPI с smoke-тестами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</a:rPr>
              <a:t>Главный результат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ROC-AUC test = 0.6554 — порог 0.65 пройден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Latency на визит — миллисекунды; готово к продовому использованию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 Топ-фичи дают понятные действия для маркетинга и продукта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СберАвтоподписка · Учебный проект MIFIML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